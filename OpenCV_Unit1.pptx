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2286000"/>
            <a:ext cx="2011680" cy="201168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3200400"/>
            <a:ext cx="1097280" cy="1097280"/>
          </a:xfrm>
          <a:prstGeom prst="ellipse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48640"/>
            <a:ext cx="2194560" cy="347472"/>
          </a:xfrm>
          <a:prstGeom prst="rect">
            <a:avLst/>
          </a:prstGeom>
          <a:solidFill>
            <a:srgbClr val="00C9FF">
              <a:alpha val="20000"/>
            </a:srgbClr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48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FF"/>
                </a:solidFill>
              </a:rPr>
              <a:t>UNIT 1 OVERVIEW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&amp;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" y="3108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Guide to Image Processing,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Deep Learning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4480560"/>
            <a:ext cx="109728" cy="10972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4480560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480560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4480560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0" y="4480560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journey from neural network basics to advanced computer vision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931920" cy="914400"/>
          </a:xfrm>
          <a:prstGeom prst="rect">
            <a:avLst/>
          </a:prstGeom>
          <a:solidFill>
            <a:srgbClr val="132035"/>
          </a:solidFill>
          <a:ln w="190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54864" cy="9144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44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Neural Networks?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&amp; human vision vs machine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3931920" cy="914400"/>
          </a:xfrm>
          <a:prstGeom prst="rect">
            <a:avLst/>
          </a:prstGeom>
          <a:solidFill>
            <a:srgbClr val="132035"/>
          </a:solidFill>
          <a:ln w="1905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68880"/>
            <a:ext cx="54864" cy="9144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420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Enhancement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090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Sharpening, contrast, histogram eq.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3931920" cy="914400"/>
          </a:xfrm>
          <a:prstGeom prst="rect">
            <a:avLst/>
          </a:prstGeom>
          <a:solidFill>
            <a:srgbClr val="13203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66160"/>
            <a:ext cx="54864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39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4187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Thresholding &amp; region extraction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3931920" cy="914400"/>
          </a:xfrm>
          <a:prstGeom prst="rect">
            <a:avLst/>
          </a:prstGeom>
          <a:solidFill>
            <a:srgbClr val="132035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371600"/>
            <a:ext cx="54864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444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Compression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1993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file size, DCT basics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468880"/>
            <a:ext cx="3931920" cy="914400"/>
          </a:xfrm>
          <a:prstGeom prst="rect">
            <a:avLst/>
          </a:prstGeom>
          <a:solidFill>
            <a:srgbClr val="132035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468880"/>
            <a:ext cx="54864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5420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2834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3090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&amp; DNN models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566160"/>
            <a:ext cx="3931920" cy="914400"/>
          </a:xfrm>
          <a:prstGeom prst="rect">
            <a:avLst/>
          </a:prstGeom>
          <a:solidFill>
            <a:srgbClr val="1320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56616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39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931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4187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body landmark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Neural Networks Are Needed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Traditional Methods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 rules fail for complex patterns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67128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generalize to unseen variations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61488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alone are meaningless numbers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55848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need contextual understanding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931920" cy="3657600"/>
          </a:xfrm>
          <a:prstGeom prst="rect">
            <a:avLst/>
          </a:prstGeom>
          <a:solidFill>
            <a:srgbClr val="132035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Dataset Example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× 28 = 784 pixel values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192024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49824" y="192024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96128" y="192024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42432" y="192024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88736" y="192024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92024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192024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192024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192024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0256" y="192024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2066544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9824" y="2066544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96128" y="2066544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42432" y="2066544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88736" y="2066544"/>
            <a:ext cx="137160" cy="137160"/>
          </a:xfrm>
          <a:prstGeom prst="rect">
            <a:avLst/>
          </a:prstGeom>
          <a:solidFill>
            <a:srgbClr val="030303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2066544"/>
            <a:ext cx="137160" cy="137160"/>
          </a:xfrm>
          <a:prstGeom prst="rect">
            <a:avLst/>
          </a:prstGeom>
          <a:solidFill>
            <a:srgbClr val="121212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81344" y="2066544"/>
            <a:ext cx="137160" cy="137160"/>
          </a:xfrm>
          <a:prstGeom prst="rect">
            <a:avLst/>
          </a:prstGeom>
          <a:solidFill>
            <a:srgbClr val="7E7E7E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27648" y="2066544"/>
            <a:ext cx="137160" cy="137160"/>
          </a:xfrm>
          <a:prstGeom prst="rect">
            <a:avLst/>
          </a:prstGeom>
          <a:solidFill>
            <a:srgbClr val="AFAFAF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73952" y="2066544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20256" y="2066544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03520" y="2212848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49824" y="2212848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96128" y="2212848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42432" y="2212848"/>
            <a:ext cx="137160" cy="137160"/>
          </a:xfrm>
          <a:prstGeom prst="rect">
            <a:avLst/>
          </a:prstGeom>
          <a:solidFill>
            <a:srgbClr val="1E1E1E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88736" y="2212848"/>
            <a:ext cx="137160" cy="137160"/>
          </a:xfrm>
          <a:prstGeom prst="rect">
            <a:avLst/>
          </a:prstGeom>
          <a:solidFill>
            <a:srgbClr val="9A9A9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2212848"/>
            <a:ext cx="137160" cy="137160"/>
          </a:xfrm>
          <a:prstGeom prst="rect">
            <a:avLst/>
          </a:prstGeom>
          <a:solidFill>
            <a:srgbClr val="FDFDFD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81344" y="2212848"/>
            <a:ext cx="137160" cy="137160"/>
          </a:xfrm>
          <a:prstGeom prst="rect">
            <a:avLst/>
          </a:prstGeom>
          <a:solidFill>
            <a:srgbClr val="FDFDFD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2212848"/>
            <a:ext cx="137160" cy="137160"/>
          </a:xfrm>
          <a:prstGeom prst="rect">
            <a:avLst/>
          </a:prstGeom>
          <a:solidFill>
            <a:srgbClr val="4040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73952" y="2212848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20256" y="2212848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03520" y="2359152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49824" y="2359152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96128" y="2359152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42432" y="2359152"/>
            <a:ext cx="137160" cy="137160"/>
          </a:xfrm>
          <a:prstGeom prst="rect">
            <a:avLst/>
          </a:prstGeom>
          <a:solidFill>
            <a:srgbClr val="313131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88736" y="2359152"/>
            <a:ext cx="137160" cy="137160"/>
          </a:xfrm>
          <a:prstGeom prst="rect">
            <a:avLst/>
          </a:prstGeom>
          <a:solidFill>
            <a:srgbClr val="FDFDFD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35040" y="2359152"/>
            <a:ext cx="137160" cy="137160"/>
          </a:xfrm>
          <a:prstGeom prst="rect">
            <a:avLst/>
          </a:prstGeom>
          <a:solidFill>
            <a:srgbClr val="FDFDFD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81344" y="2359152"/>
            <a:ext cx="137160" cy="137160"/>
          </a:xfrm>
          <a:prstGeom prst="rect">
            <a:avLst/>
          </a:prstGeom>
          <a:solidFill>
            <a:srgbClr val="FDFDFD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27648" y="2359152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73952" y="2359152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20256" y="2359152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03520" y="2505456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49824" y="2505456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96128" y="2505456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42432" y="2505456"/>
            <a:ext cx="137160" cy="137160"/>
          </a:xfrm>
          <a:prstGeom prst="rect">
            <a:avLst/>
          </a:prstGeom>
          <a:solidFill>
            <a:srgbClr val="121212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88736" y="2505456"/>
            <a:ext cx="137160" cy="137160"/>
          </a:xfrm>
          <a:prstGeom prst="rect">
            <a:avLst/>
          </a:prstGeom>
          <a:solidFill>
            <a:srgbClr val="FDFDFD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35040" y="2505456"/>
            <a:ext cx="137160" cy="137160"/>
          </a:xfrm>
          <a:prstGeom prst="rect">
            <a:avLst/>
          </a:prstGeom>
          <a:solidFill>
            <a:srgbClr val="FDFDFD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81344" y="2505456"/>
            <a:ext cx="137160" cy="137160"/>
          </a:xfrm>
          <a:prstGeom prst="rect">
            <a:avLst/>
          </a:prstGeom>
          <a:solidFill>
            <a:srgbClr val="F7F7F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27648" y="2505456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73952" y="2505456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620256" y="2505456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03520" y="265176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49824" y="265176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596128" y="265176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42432" y="265176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88736" y="2651760"/>
            <a:ext cx="137160" cy="137160"/>
          </a:xfrm>
          <a:prstGeom prst="rect">
            <a:avLst/>
          </a:prstGeom>
          <a:solidFill>
            <a:srgbClr val="50505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35040" y="2651760"/>
            <a:ext cx="137160" cy="137160"/>
          </a:xfrm>
          <a:prstGeom prst="rect">
            <a:avLst/>
          </a:prstGeom>
          <a:solidFill>
            <a:srgbClr val="FDFDFD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81344" y="2651760"/>
            <a:ext cx="137160" cy="137160"/>
          </a:xfrm>
          <a:prstGeom prst="rect">
            <a:avLst/>
          </a:prstGeom>
          <a:solidFill>
            <a:srgbClr val="9A9A9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327648" y="265176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473952" y="265176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620256" y="2651760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303520" y="2798064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49824" y="2798064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596128" y="2798064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42432" y="2798064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888736" y="2798064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35040" y="2798064"/>
            <a:ext cx="137160" cy="137160"/>
          </a:xfrm>
          <a:prstGeom prst="rect">
            <a:avLst/>
          </a:prstGeom>
          <a:solidFill>
            <a:srgbClr val="9A9A9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81344" y="2798064"/>
            <a:ext cx="137160" cy="137160"/>
          </a:xfrm>
          <a:prstGeom prst="rect">
            <a:avLst/>
          </a:prstGeom>
          <a:solidFill>
            <a:srgbClr val="FDFDFD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27648" y="2798064"/>
            <a:ext cx="137160" cy="137160"/>
          </a:xfrm>
          <a:prstGeom prst="rect">
            <a:avLst/>
          </a:prstGeom>
          <a:solidFill>
            <a:srgbClr val="5A5A5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473952" y="2798064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620256" y="2798064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303520" y="2944368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49824" y="2944368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596128" y="2944368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742432" y="2944368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888736" y="2944368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35040" y="2944368"/>
            <a:ext cx="137160" cy="137160"/>
          </a:xfrm>
          <a:prstGeom prst="rect">
            <a:avLst/>
          </a:prstGeom>
          <a:solidFill>
            <a:srgbClr val="8B8B8B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81344" y="2944368"/>
            <a:ext cx="137160" cy="137160"/>
          </a:xfrm>
          <a:prstGeom prst="rect">
            <a:avLst/>
          </a:prstGeom>
          <a:solidFill>
            <a:srgbClr val="FDFDFD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27648" y="2944368"/>
            <a:ext cx="137160" cy="137160"/>
          </a:xfrm>
          <a:prstGeom prst="rect">
            <a:avLst/>
          </a:prstGeom>
          <a:solidFill>
            <a:srgbClr val="BEBEBE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473952" y="2944368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20256" y="2944368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303520" y="3090672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449824" y="3090672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596128" y="3090672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742432" y="3090672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888736" y="3090672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035040" y="3090672"/>
            <a:ext cx="137160" cy="137160"/>
          </a:xfrm>
          <a:prstGeom prst="rect">
            <a:avLst/>
          </a:prstGeom>
          <a:solidFill>
            <a:srgbClr val="0B0B0B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81344" y="3090672"/>
            <a:ext cx="137160" cy="137160"/>
          </a:xfrm>
          <a:prstGeom prst="rect">
            <a:avLst/>
          </a:prstGeom>
          <a:solidFill>
            <a:srgbClr val="FDFDFD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27648" y="3090672"/>
            <a:ext cx="137160" cy="137160"/>
          </a:xfrm>
          <a:prstGeom prst="rect">
            <a:avLst/>
          </a:prstGeom>
          <a:solidFill>
            <a:srgbClr val="464646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473952" y="3090672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620256" y="3090672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303520" y="3236976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449824" y="3236976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596128" y="3236976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742432" y="3236976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888736" y="3236976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035040" y="3236976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181344" y="3236976"/>
            <a:ext cx="137160" cy="137160"/>
          </a:xfrm>
          <a:prstGeom prst="rect">
            <a:avLst/>
          </a:prstGeom>
          <a:solidFill>
            <a:srgbClr val="F1F1F1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327648" y="3236976"/>
            <a:ext cx="137160" cy="137160"/>
          </a:xfrm>
          <a:prstGeom prst="rect">
            <a:avLst/>
          </a:prstGeom>
          <a:solidFill>
            <a:srgbClr val="E1E1E1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473952" y="3236976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620256" y="3236976"/>
            <a:ext cx="137160" cy="137160"/>
          </a:xfrm>
          <a:prstGeom prst="rect">
            <a:avLst/>
          </a:prstGeom>
          <a:solidFill>
            <a:srgbClr val="00000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02920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sees: Digit 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sees: 784 numbers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5029200" y="4069080"/>
            <a:ext cx="3200400" cy="411480"/>
          </a:xfrm>
          <a:prstGeom prst="rect">
            <a:avLst/>
          </a:prstGeom>
          <a:solidFill>
            <a:srgbClr val="00C9FF">
              <a:alpha val="20000"/>
            </a:srgbClr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029200" y="4069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learn patterns automatically!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 – CIFAR-10 Classifier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" y="1554480"/>
            <a:ext cx="914400" cy="1280160"/>
          </a:xfrm>
          <a:prstGeom prst="rect">
            <a:avLst/>
          </a:prstGeom>
          <a:solidFill>
            <a:srgbClr val="0891B2">
              <a:alpha val="8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7373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32×32×3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51560" y="2194560"/>
            <a:ext cx="731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1554480"/>
            <a:ext cx="1097280" cy="1280160"/>
          </a:xfrm>
          <a:prstGeom prst="rect">
            <a:avLst/>
          </a:prstGeom>
          <a:solidFill>
            <a:srgbClr val="7C3AED">
              <a:alpha val="8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ReLU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21992" y="2194560"/>
            <a:ext cx="731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95144" y="1554480"/>
            <a:ext cx="914400" cy="1280160"/>
          </a:xfrm>
          <a:prstGeom prst="rect">
            <a:avLst/>
          </a:prstGeom>
          <a:solidFill>
            <a:srgbClr val="1A3A5C">
              <a:alpha val="80000"/>
            </a:srgbClr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95144" y="17373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9544" y="2194560"/>
            <a:ext cx="731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82696" y="1554480"/>
            <a:ext cx="1097280" cy="1280160"/>
          </a:xfrm>
          <a:prstGeom prst="rect">
            <a:avLst/>
          </a:prstGeom>
          <a:solidFill>
            <a:srgbClr val="7C3AED">
              <a:alpha val="8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ReLU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79976" y="2194560"/>
            <a:ext cx="731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53128" y="1554480"/>
            <a:ext cx="914400" cy="1280160"/>
          </a:xfrm>
          <a:prstGeom prst="rect">
            <a:avLst/>
          </a:prstGeom>
          <a:solidFill>
            <a:srgbClr val="1A3A5C">
              <a:alpha val="80000"/>
            </a:srgbClr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17373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67528" y="2194560"/>
            <a:ext cx="731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1554480"/>
            <a:ext cx="822960" cy="1280160"/>
          </a:xfrm>
          <a:prstGeom prst="rect">
            <a:avLst/>
          </a:prstGeom>
          <a:solidFill>
            <a:srgbClr val="FF6B35">
              <a:alpha val="80000"/>
            </a:srgbClr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73736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63640" y="2194560"/>
            <a:ext cx="731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36792" y="1554480"/>
            <a:ext cx="822960" cy="1280160"/>
          </a:xfrm>
          <a:prstGeom prst="rect">
            <a:avLst/>
          </a:prstGeom>
          <a:solidFill>
            <a:srgbClr val="00E5A0">
              <a:alpha val="80000"/>
            </a:srgbClr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173736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ReLU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9752" y="2194560"/>
            <a:ext cx="731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32904" y="1554480"/>
            <a:ext cx="914400" cy="1280160"/>
          </a:xfrm>
          <a:prstGeom prst="rect">
            <a:avLst/>
          </a:prstGeom>
          <a:solidFill>
            <a:srgbClr val="00C9FF">
              <a:alpha val="80000"/>
            </a:srgbClr>
          </a:solidFill>
          <a:ln w="19050">
            <a:solidFill>
              <a:srgbClr val="00C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2904" y="17373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Softmax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3383280"/>
            <a:ext cx="1920240" cy="1188720"/>
          </a:xfrm>
          <a:prstGeom prst="rect">
            <a:avLst/>
          </a:prstGeom>
          <a:solidFill>
            <a:srgbClr val="132035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6576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3383280"/>
            <a:ext cx="1920240" cy="1188720"/>
          </a:xfrm>
          <a:prstGeom prst="rect">
            <a:avLst/>
          </a:prstGeom>
          <a:solidFill>
            <a:srgbClr val="13203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46888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3383280"/>
            <a:ext cx="1920240" cy="1188720"/>
          </a:xfrm>
          <a:prstGeom prst="rect">
            <a:avLst/>
          </a:prstGeom>
          <a:solidFill>
            <a:srgbClr val="1320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57200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3383280"/>
            <a:ext cx="1920240" cy="1188720"/>
          </a:xfrm>
          <a:prstGeom prst="rect">
            <a:avLst/>
          </a:prstGeom>
          <a:solidFill>
            <a:srgbClr val="1320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CE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67512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Image Enhancement Techniques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931920"/>
          </a:xfrm>
          <a:prstGeom prst="rect">
            <a:avLst/>
          </a:prstGeom>
          <a:solidFill>
            <a:srgbClr val="132035"/>
          </a:solidFill>
          <a:ln w="19050">
            <a:solidFill>
              <a:srgbClr val="00C9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edges and fine details by increasing contrast between neighboring pixels using a Laplacian kernel.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2560320" cy="1051560"/>
          </a:xfrm>
          <a:prstGeom prst="rect">
            <a:avLst/>
          </a:prstGeom>
          <a:solidFill>
            <a:srgbClr val="0A162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8803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[ 0 -1  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[-1  5 -1]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[ 0 -1  0]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Implementation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3931920"/>
          </a:xfrm>
          <a:prstGeom prst="rect">
            <a:avLst/>
          </a:prstGeom>
          <a:solidFill>
            <a:srgbClr val="132035"/>
          </a:solidFill>
          <a:ln w="1905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155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Adjustment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157276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Stretches pixel intensity values across a wider range. Fixes washed-out images using min-max normalization.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834640"/>
            <a:ext cx="2560320" cy="1051560"/>
          </a:xfrm>
          <a:prstGeom prst="rect">
            <a:avLst/>
          </a:prstGeom>
          <a:solidFill>
            <a:srgbClr val="0A162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8803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= (img - min)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 (max - min)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× 255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Implementation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743200" cy="3931920"/>
          </a:xfrm>
          <a:prstGeom prst="rect">
            <a:avLst/>
          </a:prstGeom>
          <a:solidFill>
            <a:srgbClr val="13203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1155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Equalization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157276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Redistributes pixel intensities uniformly. Enhances global contrast for dark or bright images.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834640"/>
            <a:ext cx="2560320" cy="1051560"/>
          </a:xfrm>
          <a:prstGeom prst="rect">
            <a:avLst/>
          </a:prstGeom>
          <a:solidFill>
            <a:srgbClr val="0A162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8803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cv2.equalizeHist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Uniform histogram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6364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Implementation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Image Segmentation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an image into meaningful regions where pixels share similar properties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3657600" cy="3474720"/>
          </a:xfrm>
          <a:prstGeom prst="rect">
            <a:avLst/>
          </a:prstGeom>
          <a:solidFill>
            <a:srgbClr val="1320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291840" cy="54864"/>
          </a:xfrm>
          <a:prstGeom prst="rect">
            <a:avLst/>
          </a:prstGeom>
          <a:solidFill>
            <a:srgbClr val="FF6B35">
              <a:alpha val="40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48840"/>
            <a:ext cx="164592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segmentation technique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33472"/>
            <a:ext cx="164592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606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grayscale → binary image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18104"/>
            <a:ext cx="164592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090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above threshold → white (foreground)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02736"/>
            <a:ext cx="164592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575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below threshold → black (background)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87368"/>
            <a:ext cx="164592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059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high-contrast images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329184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3159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cv2.threshold(img, 127, 255, cv2.THRESH_BINARY)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97680" y="1417320"/>
            <a:ext cx="4480560" cy="3474720"/>
          </a:xfrm>
          <a:prstGeom prst="rect">
            <a:avLst/>
          </a:prstGeom>
          <a:solidFill>
            <a:srgbClr val="132035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Thresholding Works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3302598"/>
            <a:ext cx="256032" cy="172122"/>
          </a:xfrm>
          <a:prstGeom prst="rect">
            <a:avLst/>
          </a:prstGeom>
          <a:solidFill>
            <a:srgbClr val="333333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3130475"/>
            <a:ext cx="256032" cy="344245"/>
          </a:xfrm>
          <a:prstGeom prst="rect">
            <a:avLst/>
          </a:prstGeom>
          <a:solidFill>
            <a:srgbClr val="333333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2958353"/>
            <a:ext cx="256032" cy="516367"/>
          </a:xfrm>
          <a:prstGeom prst="rect">
            <a:avLst/>
          </a:prstGeom>
          <a:solidFill>
            <a:srgbClr val="333333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0" y="2786231"/>
            <a:ext cx="256032" cy="688489"/>
          </a:xfrm>
          <a:prstGeom prst="rect">
            <a:avLst/>
          </a:prstGeom>
          <a:solidFill>
            <a:srgbClr val="333333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0" y="2728856"/>
            <a:ext cx="256032" cy="745864"/>
          </a:xfrm>
          <a:prstGeom prst="rect">
            <a:avLst/>
          </a:prstGeom>
          <a:solidFill>
            <a:srgbClr val="FFFFFF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2614108"/>
            <a:ext cx="256032" cy="860612"/>
          </a:xfrm>
          <a:prstGeom prst="rect">
            <a:avLst/>
          </a:prstGeom>
          <a:solidFill>
            <a:srgbClr val="FFFFFF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2327238"/>
            <a:ext cx="256032" cy="1147482"/>
          </a:xfrm>
          <a:prstGeom prst="rect">
            <a:avLst/>
          </a:prstGeom>
          <a:solidFill>
            <a:srgbClr val="FFFFFF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2097741"/>
            <a:ext cx="256032" cy="1376979"/>
          </a:xfrm>
          <a:prstGeom prst="rect">
            <a:avLst/>
          </a:prstGeom>
          <a:solidFill>
            <a:srgbClr val="FFFFFF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0" y="2441986"/>
            <a:ext cx="256032" cy="1032734"/>
          </a:xfrm>
          <a:prstGeom prst="rect">
            <a:avLst/>
          </a:prstGeom>
          <a:solidFill>
            <a:srgbClr val="FFFFFF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52360" y="2900979"/>
            <a:ext cx="256032" cy="573741"/>
          </a:xfrm>
          <a:prstGeom prst="rect">
            <a:avLst/>
          </a:prstGeom>
          <a:solidFill>
            <a:srgbClr val="333333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3187849"/>
            <a:ext cx="256032" cy="286871"/>
          </a:xfrm>
          <a:prstGeom prst="rect">
            <a:avLst/>
          </a:prstGeom>
          <a:solidFill>
            <a:srgbClr val="333333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92440" y="3359972"/>
            <a:ext cx="256032" cy="114748"/>
          </a:xfrm>
          <a:prstGeom prst="rect">
            <a:avLst/>
          </a:prstGeom>
          <a:solidFill>
            <a:srgbClr val="333333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2746069"/>
            <a:ext cx="41148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6858000" y="2563189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127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80560" y="3657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= foreground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background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8056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Medical imaging, document scanning, object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Image Compression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file size by removing redundant data while maintaining acceptable visual quality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3383280"/>
          </a:xfrm>
          <a:prstGeom prst="rect">
            <a:avLst/>
          </a:prstGeom>
          <a:solidFill>
            <a:srgbClr val="132035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2743200" cy="502920"/>
          </a:xfrm>
          <a:prstGeom prst="rect">
            <a:avLst/>
          </a:prstGeom>
          <a:solidFill>
            <a:srgbClr val="00E5A0">
              <a:alpha val="2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0876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Compression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10312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original data preserved. No quality loss. Larger file size.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3291840"/>
            <a:ext cx="2523744" cy="54864"/>
          </a:xfrm>
          <a:prstGeom prst="rect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3832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/ Method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36393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PNG, GIF, BMP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406908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vs. File Size Tradeoff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463040"/>
            <a:ext cx="2743200" cy="3383280"/>
          </a:xfrm>
          <a:prstGeom prst="rect">
            <a:avLst/>
          </a:prstGeom>
          <a:solidFill>
            <a:srgbClr val="132035"/>
          </a:solidFill>
          <a:ln w="19050">
            <a:solidFill>
              <a:srgbClr val="00C9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463040"/>
            <a:ext cx="2743200" cy="502920"/>
          </a:xfrm>
          <a:prstGeom prst="rect">
            <a:avLst/>
          </a:prstGeom>
          <a:solidFill>
            <a:srgbClr val="00C9FF">
              <a:alpha val="25000"/>
            </a:srgbClr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50876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 Compression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210312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data removed. Smaller files. Slight quality reduction.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10128" y="3291840"/>
            <a:ext cx="2523744" cy="54864"/>
          </a:xfrm>
          <a:prstGeom prst="rect">
            <a:avLst/>
          </a:prstGeom>
          <a:solidFill>
            <a:srgbClr val="00C9FF">
              <a:alpha val="40000"/>
            </a:srgbClr>
          </a:solidFill>
          <a:ln w="12700">
            <a:solidFill>
              <a:srgbClr val="00C9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33832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/ Method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36393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JPEG, WebP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406908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vs. File Size Tradeoff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463040"/>
            <a:ext cx="2743200" cy="3383280"/>
          </a:xfrm>
          <a:prstGeom prst="rect">
            <a:avLst/>
          </a:prstGeom>
          <a:solidFill>
            <a:srgbClr val="1320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463040"/>
            <a:ext cx="2743200" cy="502920"/>
          </a:xfrm>
          <a:prstGeom prst="rect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50876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 Transform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6208" y="210312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Cosine Transform used in JPEG to encode frequency data.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36208" y="3291840"/>
            <a:ext cx="2523744" cy="54864"/>
          </a:xfrm>
          <a:prstGeom prst="rect">
            <a:avLst/>
          </a:prstGeom>
          <a:solidFill>
            <a:srgbClr val="FF6B35">
              <a:alpha val="40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33832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/ Method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36208" y="36393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→ Frequencies → Quantize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406908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vs. File Size Tradeoff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Face Detection using OpenCV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rgbClr val="132035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1005840" cy="256032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Classifier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CV Approach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2194560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57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XML classifier file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53288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496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detectMultiScale() for detection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2871216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834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scaleFactor: adjusts image pyramid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3209544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172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minNeighbors: detection confidence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3547872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5112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but less accurate in low light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" y="3886200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849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bounding box coordinates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251960"/>
            <a:ext cx="3840480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7024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face_cascade.detectMultiScale(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gray, scaleFactor=1.1,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minNeighbors=4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13203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1097280"/>
            <a:ext cx="1005840" cy="256032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92040" y="1444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DNN-based Detector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92040" y="1810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Approach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19472" y="219456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2157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SSD ResNet10 Caffe model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19472" y="253288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2496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blobFromImage() preprocessing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19472" y="287121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2834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&gt; 0.5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19472" y="320954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38928" y="3172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across lighting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19472" y="354787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38928" y="35112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multiple faces robustly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19472" y="388620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38928" y="3849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bounding box + confidence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92040" y="4251960"/>
            <a:ext cx="3840480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27024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= cv2.dnn.readNetFromCaffe(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'deploy.prototxt',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'model.caffemodel'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Pose Estimation with MediaPipe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Landmark Detection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320040" cy="32004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MediaPipe Pose Landmarker model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320040" cy="3200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84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0939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image BGR → RGB for MediaPipe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320040" cy="320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96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detector.detect(mp_image)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3118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33 body landmark coordinates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621024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21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630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circles &amp; lines on detected joints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133088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33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4142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shoulder/hip ratio for body shape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1320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Shape Classification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1600200"/>
            <a:ext cx="3749040" cy="868680"/>
          </a:xfrm>
          <a:prstGeom prst="rect">
            <a:avLst/>
          </a:prstGeom>
          <a:solidFill>
            <a:srgbClr val="00C9FF">
              <a:alpha val="15000"/>
            </a:srgbClr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6733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Athletic / Broad Shoulder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7492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shoulder_width / hip_width: ratio &gt; 1.15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606040"/>
            <a:ext cx="3749040" cy="868680"/>
          </a:xfrm>
          <a:prstGeom prst="rect">
            <a:avLst/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6791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Shape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7492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shoulder_width / hip_width: 0.90 ≤ ratio ≤ 1.15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3611880"/>
            <a:ext cx="3749040" cy="868680"/>
          </a:xfrm>
          <a:prstGeom prst="rect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685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 Shape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7492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shoulder_width / hip_width: ratio &lt; 0.90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4572000"/>
            <a:ext cx="3749040" cy="256032"/>
          </a:xfrm>
          <a:prstGeom prst="rect">
            <a:avLst/>
          </a:prstGeom>
          <a:solidFill>
            <a:srgbClr val="0A162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458114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Uses: 11,12 (shoulders) &amp; 23,24 (hips) landmarks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A3A5C">
              <a:alpha val="50000"/>
            </a:srgbClr>
          </a:solidFill>
          <a:ln w="12700">
            <a:solidFill>
              <a:srgbClr val="1A3A5C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1A3A5C">
              <a:alpha val="30000"/>
            </a:srgbClr>
          </a:solidFill>
          <a:ln w="1270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— 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1051560"/>
          </a:xfrm>
          <a:prstGeom prst="rect">
            <a:avLst/>
          </a:prstGeom>
          <a:solidFill>
            <a:srgbClr val="132035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45720" cy="105156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325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learn visual patterns automatically from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931920" cy="1051560"/>
          </a:xfrm>
          <a:prstGeom prst="rect">
            <a:avLst/>
          </a:prstGeom>
          <a:solidFill>
            <a:srgbClr val="132035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31720"/>
            <a:ext cx="45720" cy="10515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2514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provides powerful tools for image enhancement &amp; filtering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3931920" cy="1051560"/>
          </a:xfrm>
          <a:prstGeom prst="rect">
            <a:avLst/>
          </a:prstGeom>
          <a:solidFill>
            <a:srgbClr val="1320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20440"/>
            <a:ext cx="45720" cy="1051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✂️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3703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enables extracting meaningful regions from images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3931920" cy="1051560"/>
          </a:xfrm>
          <a:prstGeom prst="rect">
            <a:avLst/>
          </a:prstGeom>
          <a:solidFill>
            <a:srgbClr val="1320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43000"/>
            <a:ext cx="4572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🗜️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40680" y="1325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balances quality vs. file size for practical storage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331720"/>
            <a:ext cx="3931920" cy="1051560"/>
          </a:xfrm>
          <a:prstGeom prst="rect">
            <a:avLst/>
          </a:prstGeom>
          <a:solidFill>
            <a:srgbClr val="132035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331720"/>
            <a:ext cx="45720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40680" y="2514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evolved from Haar Cascades to deep learning DNNs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20440"/>
            <a:ext cx="3931920" cy="1051560"/>
          </a:xfrm>
          <a:prstGeom prst="rect">
            <a:avLst/>
          </a:prstGeom>
          <a:solidFill>
            <a:srgbClr val="1320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20440"/>
            <a:ext cx="4572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🏃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40680" y="3703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enables real-time body landmark and pose estimation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&amp; Neural Networks — Unit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OpenCV &amp; Neural Networks – Unit 1</dc:title>
  <dc:subject>PptxGenJS Presentation</dc:subject>
  <dc:creator>PptxGenJS</dc:creator>
  <cp:lastModifiedBy>PptxGenJS</cp:lastModifiedBy>
  <cp:revision>1</cp:revision>
  <dcterms:created xsi:type="dcterms:W3CDTF">2026-05-27T06:38:49Z</dcterms:created>
  <dcterms:modified xsi:type="dcterms:W3CDTF">2026-05-27T06:38:49Z</dcterms:modified>
</cp:coreProperties>
</file>